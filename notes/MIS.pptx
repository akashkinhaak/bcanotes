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1" r:id="rId18"/>
    <p:sldId id="273" r:id="rId19"/>
    <p:sldId id="274" r:id="rId20"/>
    <p:sldId id="275" r:id="rId21"/>
    <p:sldId id="276" r:id="rId22"/>
    <p:sldId id="281" r:id="rId23"/>
    <p:sldId id="277" r:id="rId24"/>
    <p:sldId id="278" r:id="rId25"/>
    <p:sldId id="279" r:id="rId26"/>
    <p:sldId id="280"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111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11/8/2019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MANAGEMENT INFORMATION SYSTEM</a:t>
            </a:r>
            <a:endParaRPr lang="en-US" dirty="0"/>
          </a:p>
        </p:txBody>
      </p:sp>
      <p:sp>
        <p:nvSpPr>
          <p:cNvPr id="3" name="Subtitle 2"/>
          <p:cNvSpPr>
            <a:spLocks noGrp="1"/>
          </p:cNvSpPr>
          <p:nvPr>
            <p:ph type="subTitle" idx="1"/>
          </p:nvPr>
        </p:nvSpPr>
        <p:spPr/>
        <p:txBody>
          <a:bodyPr/>
          <a:lstStyle/>
          <a:p>
            <a:r>
              <a:rPr lang="en-US" dirty="0" smtClean="0"/>
              <a:t>UNIT-1</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descr="C:\Users\Govt College\Desktop\mis-detail-4-638.jpg"/>
          <p:cNvPicPr>
            <a:picLocks noChangeAspect="1" noChangeArrowheads="1"/>
          </p:cNvPicPr>
          <p:nvPr/>
        </p:nvPicPr>
        <p:blipFill>
          <a:blip r:embed="rId2" cstate="print"/>
          <a:srcRect/>
          <a:stretch>
            <a:fillRect/>
          </a:stretch>
        </p:blipFill>
        <p:spPr bwMode="auto">
          <a:xfrm>
            <a:off x="0" y="-3583"/>
            <a:ext cx="9296400" cy="6979586"/>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descr="C:\Users\Govt College\Desktop\management-information-systemsan-introduction-2-638 (1).jpg"/>
          <p:cNvPicPr>
            <a:picLocks noChangeAspect="1" noChangeArrowheads="1"/>
          </p:cNvPicPr>
          <p:nvPr/>
        </p:nvPicPr>
        <p:blipFill>
          <a:blip r:embed="rId2" cstate="print"/>
          <a:srcRect/>
          <a:stretch>
            <a:fillRect/>
          </a:stretch>
        </p:blipFill>
        <p:spPr bwMode="auto">
          <a:xfrm>
            <a:off x="0" y="-3583"/>
            <a:ext cx="9139227" cy="6861583"/>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descr="C:\Users\Govt College\Desktop\management-information-system-5-728.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0" y="0"/>
            <a:ext cx="9144000" cy="6858000"/>
          </a:xfrm>
        </p:spPr>
        <p:txBody>
          <a:bodyPr>
            <a:normAutofit fontScale="62500" lnSpcReduction="20000"/>
          </a:bodyPr>
          <a:lstStyle/>
          <a:p>
            <a:pPr>
              <a:buNone/>
            </a:pPr>
            <a:r>
              <a:rPr lang="en-US" b="1" dirty="0" smtClean="0"/>
              <a:t>Types of the System in the Management Information Systems</a:t>
            </a:r>
            <a:endParaRPr lang="en-US" dirty="0" smtClean="0"/>
          </a:p>
          <a:p>
            <a:pPr>
              <a:buNone/>
            </a:pPr>
            <a:r>
              <a:rPr lang="en-US" b="1" dirty="0" smtClean="0"/>
              <a:t>1. Conceptual Systems</a:t>
            </a:r>
            <a:endParaRPr lang="en-US" dirty="0" smtClean="0"/>
          </a:p>
          <a:p>
            <a:r>
              <a:rPr lang="en-US" dirty="0" smtClean="0"/>
              <a:t>a. Are theoretical and explanatory in the nature.</a:t>
            </a:r>
            <a:br>
              <a:rPr lang="en-US" dirty="0" smtClean="0"/>
            </a:br>
            <a:r>
              <a:rPr lang="en-US" dirty="0" smtClean="0"/>
              <a:t>b. Provide the much needed clarification.</a:t>
            </a:r>
            <a:br>
              <a:rPr lang="en-US" dirty="0" smtClean="0"/>
            </a:br>
            <a:r>
              <a:rPr lang="en-US" dirty="0" smtClean="0"/>
              <a:t>c. Provide theoretical framework for which there may or may not be any real life counterpart.</a:t>
            </a:r>
            <a:br>
              <a:rPr lang="en-US" dirty="0" smtClean="0"/>
            </a:br>
            <a:r>
              <a:rPr lang="en-US" dirty="0" smtClean="0"/>
              <a:t>d. E.g. of such systems can be philosophy, theology etc.</a:t>
            </a:r>
          </a:p>
          <a:p>
            <a:pPr>
              <a:buNone/>
            </a:pPr>
            <a:r>
              <a:rPr lang="en-US" b="1" dirty="0" smtClean="0"/>
              <a:t>2. Empirical Systems</a:t>
            </a:r>
            <a:endParaRPr lang="en-US" dirty="0" smtClean="0"/>
          </a:p>
          <a:p>
            <a:r>
              <a:rPr lang="en-US" dirty="0" smtClean="0"/>
              <a:t>a. Are very practical, specific and also very operational in the nature.</a:t>
            </a:r>
            <a:br>
              <a:rPr lang="en-US" dirty="0" smtClean="0"/>
            </a:br>
            <a:r>
              <a:rPr lang="en-US" dirty="0" smtClean="0"/>
              <a:t>b. Can be based on the conceptual system.</a:t>
            </a:r>
            <a:br>
              <a:rPr lang="en-US" dirty="0" smtClean="0"/>
            </a:br>
            <a:r>
              <a:rPr lang="en-US" dirty="0" smtClean="0"/>
              <a:t>c. Examination system, surgery act as very good examples of the empirical systems.</a:t>
            </a:r>
          </a:p>
          <a:p>
            <a:pPr>
              <a:buNone/>
            </a:pPr>
            <a:r>
              <a:rPr lang="en-US" b="1" dirty="0" smtClean="0"/>
              <a:t>3. Open Systems</a:t>
            </a:r>
            <a:endParaRPr lang="en-US" dirty="0" smtClean="0"/>
          </a:p>
          <a:p>
            <a:r>
              <a:rPr lang="en-US" dirty="0" smtClean="0"/>
              <a:t>a. Involve continuous interaction with the environment.</a:t>
            </a:r>
            <a:br>
              <a:rPr lang="en-US" dirty="0" smtClean="0"/>
            </a:br>
            <a:r>
              <a:rPr lang="en-US" dirty="0" smtClean="0"/>
              <a:t>b. So exchanges the information, material, energy with the environment.</a:t>
            </a:r>
            <a:br>
              <a:rPr lang="en-US" dirty="0" smtClean="0"/>
            </a:br>
            <a:r>
              <a:rPr lang="en-US" dirty="0" smtClean="0"/>
              <a:t>c. Is open and also self organizing in the nature.</a:t>
            </a:r>
            <a:br>
              <a:rPr lang="en-US" dirty="0" smtClean="0"/>
            </a:br>
            <a:r>
              <a:rPr lang="en-US" dirty="0" smtClean="0"/>
              <a:t>d. Is also adoptive or adaptive to the changing environment as it is flexible.</a:t>
            </a:r>
          </a:p>
          <a:p>
            <a:pPr>
              <a:buNone/>
            </a:pPr>
            <a:r>
              <a:rPr lang="en-US" b="1" dirty="0" smtClean="0"/>
              <a:t>4. Closed Systems</a:t>
            </a:r>
            <a:endParaRPr lang="en-US" dirty="0" smtClean="0"/>
          </a:p>
          <a:p>
            <a:r>
              <a:rPr lang="en-US" dirty="0" smtClean="0"/>
              <a:t>b. Is rigid in nature.</a:t>
            </a:r>
            <a:br>
              <a:rPr lang="en-US" dirty="0" smtClean="0"/>
            </a:br>
            <a:r>
              <a:rPr lang="en-US" dirty="0" smtClean="0"/>
              <a:t>c. Is not at all amenable to the change.</a:t>
            </a:r>
            <a:br>
              <a:rPr lang="en-US" dirty="0" smtClean="0"/>
            </a:br>
            <a:r>
              <a:rPr lang="en-US" dirty="0" smtClean="0"/>
              <a:t>d. Is also self contained.</a:t>
            </a:r>
            <a:br>
              <a:rPr lang="en-US" dirty="0" smtClean="0"/>
            </a:br>
            <a:r>
              <a:rPr lang="en-US" dirty="0" smtClean="0"/>
              <a:t>e. Is somewhat isolated in the nature.</a:t>
            </a:r>
            <a:br>
              <a:rPr lang="en-US" dirty="0" smtClean="0"/>
            </a:br>
            <a:r>
              <a:rPr lang="en-US" dirty="0" smtClean="0"/>
              <a:t>f. Is having a well defined boundary.</a:t>
            </a:r>
            <a:br>
              <a:rPr lang="en-US" dirty="0" smtClean="0"/>
            </a:br>
            <a:r>
              <a:rPr lang="en-US" dirty="0" smtClean="0"/>
              <a:t>g. Is not at all adaptive in the nature.</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098" name="Picture 2" descr="C:\Users\Govt College\Desktop\slide_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2" name="Picture 2" descr="C:\Users\Govt College\Desktop\management-information-system-module3-9-638.jpg"/>
          <p:cNvPicPr>
            <a:picLocks noChangeAspect="1" noChangeArrowheads="1"/>
          </p:cNvPicPr>
          <p:nvPr/>
        </p:nvPicPr>
        <p:blipFill>
          <a:blip r:embed="rId2" cstate="print"/>
          <a:srcRect/>
          <a:stretch>
            <a:fillRect/>
          </a:stretch>
        </p:blipFill>
        <p:spPr bwMode="auto">
          <a:xfrm>
            <a:off x="4772" y="0"/>
            <a:ext cx="9134454" cy="6857999"/>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146" name="Picture 2" descr="C:\Users\Govt College\Desktop\management-information-system-module3-10-638.jpg"/>
          <p:cNvPicPr>
            <a:picLocks noChangeAspect="1" noChangeArrowheads="1"/>
          </p:cNvPicPr>
          <p:nvPr/>
        </p:nvPicPr>
        <p:blipFill>
          <a:blip r:embed="rId2" cstate="print"/>
          <a:srcRect/>
          <a:stretch>
            <a:fillRect/>
          </a:stretch>
        </p:blipFill>
        <p:spPr bwMode="auto">
          <a:xfrm>
            <a:off x="457200" y="0"/>
            <a:ext cx="8479040" cy="6365925"/>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0" name="Picture 2" descr="C:\Users\Govt College\Desktop\management-information-system-module3-11-638.jpg"/>
          <p:cNvPicPr>
            <a:picLocks noChangeAspect="1" noChangeArrowheads="1"/>
          </p:cNvPicPr>
          <p:nvPr/>
        </p:nvPicPr>
        <p:blipFill>
          <a:blip r:embed="rId2" cstate="print"/>
          <a:srcRect/>
          <a:stretch>
            <a:fillRect/>
          </a:stretch>
        </p:blipFill>
        <p:spPr bwMode="auto">
          <a:xfrm>
            <a:off x="0" y="-3583"/>
            <a:ext cx="8991600" cy="6750747"/>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descr="C:\Users\Govt College\Desktop\management-information-system-module3-12-638.jpg"/>
          <p:cNvPicPr>
            <a:picLocks noChangeAspect="1" noChangeArrowheads="1"/>
          </p:cNvPicPr>
          <p:nvPr/>
        </p:nvPicPr>
        <p:blipFill>
          <a:blip r:embed="rId2" cstate="print"/>
          <a:srcRect/>
          <a:stretch>
            <a:fillRect/>
          </a:stretch>
        </p:blipFill>
        <p:spPr bwMode="auto">
          <a:xfrm>
            <a:off x="0" y="-3583"/>
            <a:ext cx="9144000" cy="6865167"/>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9218" name="Picture 2" descr="C:\Users\Govt College\Desktop\is-types-five-level-pyramid-model.png"/>
          <p:cNvPicPr>
            <a:picLocks noChangeAspect="1" noChangeArrowheads="1"/>
          </p:cNvPicPr>
          <p:nvPr/>
        </p:nvPicPr>
        <p:blipFill>
          <a:blip r:embed="rId2" cstate="print"/>
          <a:srcRect/>
          <a:stretch>
            <a:fillRect/>
          </a:stretch>
        </p:blipFill>
        <p:spPr bwMode="auto">
          <a:xfrm>
            <a:off x="0" y="0"/>
            <a:ext cx="9330282" cy="685800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42" name="Picture 2" descr="C:\Users\Govt College\Desktop\management-information-system-module3-13-638.jpg"/>
          <p:cNvPicPr>
            <a:picLocks noChangeAspect="1" noChangeArrowheads="1"/>
          </p:cNvPicPr>
          <p:nvPr/>
        </p:nvPicPr>
        <p:blipFill>
          <a:blip r:embed="rId2" cstate="print"/>
          <a:srcRect/>
          <a:stretch>
            <a:fillRect/>
          </a:stretch>
        </p:blipFill>
        <p:spPr bwMode="auto">
          <a:xfrm>
            <a:off x="0" y="-3583"/>
            <a:ext cx="9144000" cy="6865167"/>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1267" name="Picture 3" descr="C:\Users\Govt College\Desktop\management-information-system-module3-14-638.jpg"/>
          <p:cNvPicPr>
            <a:picLocks noChangeAspect="1" noChangeArrowheads="1"/>
          </p:cNvPicPr>
          <p:nvPr/>
        </p:nvPicPr>
        <p:blipFill>
          <a:blip r:embed="rId2" cstate="print"/>
          <a:srcRect/>
          <a:stretch>
            <a:fillRect/>
          </a:stretch>
        </p:blipFill>
        <p:spPr bwMode="auto">
          <a:xfrm>
            <a:off x="0" y="-3583"/>
            <a:ext cx="9139227" cy="6861583"/>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EDP- ELECTRONIC DATA PROCESSING</a:t>
            </a:r>
            <a:endParaRPr lang="en-US" dirty="0"/>
          </a:p>
        </p:txBody>
      </p:sp>
      <p:sp>
        <p:nvSpPr>
          <p:cNvPr id="3" name="Content Placeholder 2"/>
          <p:cNvSpPr>
            <a:spLocks noGrp="1"/>
          </p:cNvSpPr>
          <p:nvPr>
            <p:ph idx="1"/>
          </p:nvPr>
        </p:nvSpPr>
        <p:spPr/>
        <p:txBody>
          <a:bodyPr/>
          <a:lstStyle/>
          <a:p>
            <a:r>
              <a:rPr lang="en-US" dirty="0" smtClean="0"/>
              <a:t>Electronic data processing (EPD) is the process of collecting data and processing them to produce meaningful information by using computers, processing software and standard database tools. It is the latest technique for processing large chunks of data. It is a fast, efficient and reliable technique.</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2290" name="Picture 2" descr="C:\Users\Govt College\Desktop\management-information-system-26-728.jpg"/>
          <p:cNvPicPr>
            <a:picLocks noChangeAspect="1" noChangeArrowheads="1"/>
          </p:cNvPicPr>
          <p:nvPr/>
        </p:nvPicPr>
        <p:blipFill>
          <a:blip r:embed="rId2" cstate="print"/>
          <a:srcRect/>
          <a:stretch>
            <a:fillRect/>
          </a:stretch>
        </p:blipFill>
        <p:spPr bwMode="auto">
          <a:xfrm>
            <a:off x="0" y="-106763"/>
            <a:ext cx="9005946" cy="6964763"/>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4338" name="Picture 2" descr="C:\Users\Govt College\Desktop\management-information-system-24-728.jpg"/>
          <p:cNvPicPr>
            <a:picLocks noChangeAspect="1" noChangeArrowheads="1"/>
          </p:cNvPicPr>
          <p:nvPr/>
        </p:nvPicPr>
        <p:blipFill>
          <a:blip r:embed="rId2" cstate="print"/>
          <a:srcRect/>
          <a:stretch>
            <a:fillRect/>
          </a:stretch>
        </p:blipFill>
        <p:spPr bwMode="auto">
          <a:xfrm>
            <a:off x="38100" y="0"/>
            <a:ext cx="8877300" cy="6865274"/>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3314" name="Picture 2" descr="C:\Users\Govt College\Desktop\management-information-system-27-728.jpg"/>
          <p:cNvPicPr>
            <a:picLocks noChangeAspect="1" noChangeArrowheads="1"/>
          </p:cNvPicPr>
          <p:nvPr/>
        </p:nvPicPr>
        <p:blipFill>
          <a:blip r:embed="rId2" cstate="print"/>
          <a:srcRect/>
          <a:stretch>
            <a:fillRect/>
          </a:stretch>
        </p:blipFill>
        <p:spPr bwMode="auto">
          <a:xfrm>
            <a:off x="228600" y="70025"/>
            <a:ext cx="8686800" cy="6717951"/>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5362" name="Picture 2" descr="C:\Users\Govt College\Desktop\Historic+Development+EDP+-+Focus+on+Data+OAS+-.jpg"/>
          <p:cNvPicPr>
            <a:picLocks noChangeAspect="1" noChangeArrowheads="1"/>
          </p:cNvPicPr>
          <p:nvPr/>
        </p:nvPicPr>
        <p:blipFill>
          <a:blip r:embed="rId2" cstate="print"/>
          <a:srcRect/>
          <a:stretch>
            <a:fillRect/>
          </a:stretch>
        </p:blipFill>
        <p:spPr bwMode="auto">
          <a:xfrm>
            <a:off x="304800" y="-1"/>
            <a:ext cx="8763000" cy="6771409"/>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6386" name="Picture 2" descr="C:\Users\Govt College\Desktop\management-information-system-28-728.jpg"/>
          <p:cNvPicPr>
            <a:picLocks noChangeAspect="1" noChangeArrowheads="1"/>
          </p:cNvPicPr>
          <p:nvPr/>
        </p:nvPicPr>
        <p:blipFill>
          <a:blip r:embed="rId2" cstate="print"/>
          <a:srcRect/>
          <a:stretch>
            <a:fillRect/>
          </a:stretch>
        </p:blipFill>
        <p:spPr bwMode="auto">
          <a:xfrm>
            <a:off x="152399" y="11096"/>
            <a:ext cx="8853545" cy="6846903"/>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C:\Users\Govt College\Desktop\Difference-Between-Management-Information-System-and-Decision-Support-System-Comparison-Summary.jpg"/>
          <p:cNvPicPr>
            <a:picLocks noChangeAspect="1" noChangeArrowheads="1"/>
          </p:cNvPicPr>
          <p:nvPr/>
        </p:nvPicPr>
        <p:blipFill>
          <a:blip r:embed="rId2" cstate="print"/>
          <a:srcRect/>
          <a:stretch>
            <a:fillRect/>
          </a:stretch>
        </p:blipFill>
        <p:spPr bwMode="auto">
          <a:xfrm>
            <a:off x="2286000" y="0"/>
            <a:ext cx="4724400" cy="691217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895600"/>
            <a:ext cx="8229600" cy="1143000"/>
          </a:xfrm>
        </p:spPr>
        <p:txBody>
          <a:bodyPr/>
          <a:lstStyle/>
          <a:p>
            <a:r>
              <a:rPr lang="en-US" dirty="0" smtClean="0"/>
              <a:t>UNIT-2</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cap="all" dirty="0" smtClean="0"/>
              <a:t>CHARACTERISTICS OF MIS</a:t>
            </a:r>
            <a:br>
              <a:rPr lang="en-US" b="1" cap="all" dirty="0" smtClean="0"/>
            </a:b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Avoid GIGO (Garbage In Garbage Out) : The correct input of a system always gives accurate information. So, GIGO must be avoided.</a:t>
            </a:r>
          </a:p>
          <a:p>
            <a:r>
              <a:rPr lang="en-US" dirty="0" smtClean="0"/>
              <a:t>Information produced should be trust worthy. The processing should not hide vital information which may point out the efficiency of some individuals.</a:t>
            </a:r>
          </a:p>
          <a:p>
            <a:r>
              <a:rPr lang="en-US" dirty="0" smtClean="0"/>
              <a:t>The information should be complete it should include all data, not partial data.</a:t>
            </a:r>
          </a:p>
          <a:p>
            <a:r>
              <a:rPr lang="en-US" dirty="0" smtClean="0"/>
              <a:t>The information should be timely. Delayed information may sometimes be of no use. So, whenever it should be required it should be available.</a:t>
            </a:r>
          </a:p>
          <a:p>
            <a:r>
              <a:rPr lang="en-US" dirty="0" smtClean="0"/>
              <a:t>The information should be presented in such a way that manager may immediately perceives its significance. The graphical presentation of information is a very effective way.</a:t>
            </a:r>
          </a:p>
          <a:p>
            <a:r>
              <a:rPr lang="en-US" dirty="0" smtClean="0"/>
              <a:t>Information should be designed according to the needs of the user and be relevant to him. Because irrelevant information always waste a lot of managers time.</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8434" name="Picture 2" descr="C:\Users\Govt College\Desktop\management-information-system-8-728.jpg"/>
          <p:cNvPicPr>
            <a:picLocks noChangeAspect="1" noChangeArrowheads="1"/>
          </p:cNvPicPr>
          <p:nvPr/>
        </p:nvPicPr>
        <p:blipFill>
          <a:blip r:embed="rId2" cstate="print"/>
          <a:srcRect/>
          <a:stretch>
            <a:fillRect/>
          </a:stretch>
        </p:blipFill>
        <p:spPr bwMode="auto">
          <a:xfrm>
            <a:off x="138053" y="0"/>
            <a:ext cx="8867892" cy="6857999"/>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9458" name="Picture 2" descr="C:\Users\Govt College\Desktop\slide_4.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482" name="Picture 2" descr="C:\Users\Govt College\Desktop\management-information-system-4-728.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Information requirements &amp; Levels of Management</a:t>
            </a:r>
            <a:endParaRPr lang="en-US" dirty="0"/>
          </a:p>
        </p:txBody>
      </p:sp>
      <p:pic>
        <p:nvPicPr>
          <p:cNvPr id="21506" name="Picture 2" descr="C:\Users\Govt College\Desktop\012316_0828_TypesofInfo1.png"/>
          <p:cNvPicPr>
            <a:picLocks noGrp="1" noChangeAspect="1" noChangeArrowheads="1"/>
          </p:cNvPicPr>
          <p:nvPr>
            <p:ph idx="1"/>
          </p:nvPr>
        </p:nvPicPr>
        <p:blipFill>
          <a:blip r:embed="rId2" cstate="print"/>
          <a:srcRect/>
          <a:stretch>
            <a:fillRect/>
          </a:stretch>
        </p:blipFill>
        <p:spPr bwMode="auto">
          <a:xfrm>
            <a:off x="1566862" y="2015331"/>
            <a:ext cx="6010275" cy="3695700"/>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cap="all" dirty="0" smtClean="0"/>
              <a:t>MANAGEMENT STRUCTURE</a:t>
            </a:r>
            <a:br>
              <a:rPr lang="en-US" b="1" cap="all" dirty="0" smtClean="0"/>
            </a:br>
            <a:endParaRPr lang="en-US" dirty="0"/>
          </a:p>
        </p:txBody>
      </p:sp>
      <p:sp>
        <p:nvSpPr>
          <p:cNvPr id="3" name="Content Placeholder 2"/>
          <p:cNvSpPr>
            <a:spLocks noGrp="1"/>
          </p:cNvSpPr>
          <p:nvPr>
            <p:ph idx="1"/>
          </p:nvPr>
        </p:nvSpPr>
        <p:spPr/>
        <p:txBody>
          <a:bodyPr/>
          <a:lstStyle/>
          <a:p>
            <a:r>
              <a:rPr lang="en-US" dirty="0" smtClean="0"/>
              <a:t>In management structure we have three levels.</a:t>
            </a:r>
          </a:p>
          <a:p>
            <a:r>
              <a:rPr lang="en-US" dirty="0" smtClean="0"/>
              <a:t>Top Level</a:t>
            </a:r>
          </a:p>
          <a:p>
            <a:r>
              <a:rPr lang="en-US" dirty="0" smtClean="0"/>
              <a:t>Middle Level and</a:t>
            </a:r>
          </a:p>
          <a:p>
            <a:r>
              <a:rPr lang="en-US" dirty="0" smtClean="0"/>
              <a:t>Line Managers(Operating Management)</a:t>
            </a:r>
          </a:p>
          <a:p>
            <a:r>
              <a:rPr lang="en-US" dirty="0" smtClean="0"/>
              <a:t>A graphical representation of management structure is known as </a:t>
            </a:r>
            <a:r>
              <a:rPr lang="en-US" dirty="0" err="1" smtClean="0"/>
              <a:t>organisation</a:t>
            </a:r>
            <a:r>
              <a:rPr lang="en-US" dirty="0" smtClean="0"/>
              <a:t> chart.</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C:\Users\Govt College\Desktop\Management-Structure.png"/>
          <p:cNvPicPr>
            <a:picLocks noChangeAspect="1" noChangeArrowheads="1"/>
          </p:cNvPicPr>
          <p:nvPr/>
        </p:nvPicPr>
        <p:blipFill>
          <a:blip r:embed="rId2" cstate="print"/>
          <a:srcRect/>
          <a:stretch>
            <a:fillRect/>
          </a:stretch>
        </p:blipFill>
        <p:spPr bwMode="auto">
          <a:xfrm>
            <a:off x="685800" y="2362200"/>
            <a:ext cx="7859459" cy="2747963"/>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70000" lnSpcReduction="20000"/>
          </a:bodyPr>
          <a:lstStyle/>
          <a:p>
            <a:r>
              <a:rPr lang="en-US" b="1" dirty="0" smtClean="0"/>
              <a:t>Top Level : </a:t>
            </a:r>
            <a:r>
              <a:rPr lang="en-US" dirty="0" smtClean="0"/>
              <a:t>Top Management performs the strategic planning processes. The basic function in strategic planning are to establishes the polices, plans, and objectives of the company, as well as a general budget framework under which the various departments will operate. These factors are passes down to middle level or management.</a:t>
            </a:r>
          </a:p>
          <a:p>
            <a:r>
              <a:rPr lang="en-US" b="1" dirty="0" smtClean="0"/>
              <a:t>Middle Level :  </a:t>
            </a:r>
            <a:r>
              <a:rPr lang="en-US" dirty="0" smtClean="0"/>
              <a:t>Middle Management manages the management control processes (tactical planning processes). The middle level translate the factors passed by top management into specific revenue, cost, and profit goals using tactical planning. These are reviewed, </a:t>
            </a:r>
            <a:r>
              <a:rPr lang="en-US" dirty="0" err="1" smtClean="0"/>
              <a:t>analysed</a:t>
            </a:r>
            <a:r>
              <a:rPr lang="en-US" dirty="0" smtClean="0"/>
              <a:t> and modified in accordance with the overall planes and policies </a:t>
            </a:r>
            <a:r>
              <a:rPr lang="en-US" dirty="0" err="1" smtClean="0"/>
              <a:t>untill</a:t>
            </a:r>
            <a:r>
              <a:rPr lang="en-US" dirty="0" smtClean="0"/>
              <a:t> agreement is reached. Then middle management, issues the specific schedules and measurement scales to operating level.</a:t>
            </a:r>
          </a:p>
          <a:p>
            <a:r>
              <a:rPr lang="en-US" b="1" dirty="0" smtClean="0"/>
              <a:t>Line Managers : </a:t>
            </a:r>
            <a:r>
              <a:rPr lang="en-US" dirty="0" smtClean="0"/>
              <a:t>Line managers manages the operational planning process. This level has the job of producing the goods and services required to meet the revenue and profit goals, which in turn will enable the company to reach its overall plans and objectives.</a:t>
            </a:r>
          </a:p>
          <a:p>
            <a:r>
              <a:rPr lang="en-US" dirty="0" smtClean="0"/>
              <a:t>Hence, we can say in simple words the middle level managers reports to the top level manager who is the overall </a:t>
            </a:r>
            <a:r>
              <a:rPr lang="en-US" dirty="0" err="1" smtClean="0"/>
              <a:t>incharge</a:t>
            </a:r>
            <a:r>
              <a:rPr lang="en-US" dirty="0" smtClean="0"/>
              <a:t> of the </a:t>
            </a:r>
            <a:r>
              <a:rPr lang="en-US" dirty="0" err="1" smtClean="0"/>
              <a:t>organisation</a:t>
            </a:r>
            <a:r>
              <a:rPr lang="en-US" dirty="0" smtClean="0"/>
              <a:t>. The middle level managers have many assistants who are responsible for specific day to day operations. They are known as line managers.</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3554" name="Picture 2" descr="C:\Users\Govt College\Desktop\simons-model-for-decision-making-process-2-638.jpg"/>
          <p:cNvPicPr>
            <a:picLocks noChangeAspect="1" noChangeArrowheads="1"/>
          </p:cNvPicPr>
          <p:nvPr/>
        </p:nvPicPr>
        <p:blipFill>
          <a:blip r:embed="rId2" cstate="print"/>
          <a:srcRect/>
          <a:stretch>
            <a:fillRect/>
          </a:stretch>
        </p:blipFill>
        <p:spPr bwMode="auto">
          <a:xfrm>
            <a:off x="0" y="-3583"/>
            <a:ext cx="9139227" cy="6861583"/>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4578" name="Picture 2" descr="C:\Users\Govt College\Desktop\simons-model-for-decision-making-process-3-638.jpg"/>
          <p:cNvPicPr>
            <a:picLocks noChangeAspect="1" noChangeArrowheads="1"/>
          </p:cNvPicPr>
          <p:nvPr/>
        </p:nvPicPr>
        <p:blipFill>
          <a:blip r:embed="rId2" cstate="print"/>
          <a:srcRect/>
          <a:stretch>
            <a:fillRect/>
          </a:stretch>
        </p:blipFill>
        <p:spPr bwMode="auto">
          <a:xfrm>
            <a:off x="0" y="-3583"/>
            <a:ext cx="9144000" cy="6865167"/>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5602" name="Picture 2" descr="C:\Users\Govt College\Desktop\simons-model-for-decision-making-process-4-638.jpg"/>
          <p:cNvPicPr>
            <a:picLocks noChangeAspect="1" noChangeArrowheads="1"/>
          </p:cNvPicPr>
          <p:nvPr/>
        </p:nvPicPr>
        <p:blipFill>
          <a:blip r:embed="rId2" cstate="print"/>
          <a:srcRect/>
          <a:stretch>
            <a:fillRect/>
          </a:stretch>
        </p:blipFill>
        <p:spPr bwMode="auto">
          <a:xfrm>
            <a:off x="0" y="-3583"/>
            <a:ext cx="9139227" cy="6861583"/>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6626" name="Picture 2" descr="C:\Users\Govt College\Desktop\simons-model-for-decision-making-process-5-638.jpg"/>
          <p:cNvPicPr>
            <a:picLocks noChangeAspect="1" noChangeArrowheads="1"/>
          </p:cNvPicPr>
          <p:nvPr/>
        </p:nvPicPr>
        <p:blipFill>
          <a:blip r:embed="rId2" cstate="print"/>
          <a:srcRect/>
          <a:stretch>
            <a:fillRect/>
          </a:stretch>
        </p:blipFill>
        <p:spPr bwMode="auto">
          <a:xfrm>
            <a:off x="0" y="-3583"/>
            <a:ext cx="9144000" cy="6865167"/>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descr="C:\Users\Govt College\Desktop\simons-model-for-decision-making-process-6-638.jpg"/>
          <p:cNvPicPr>
            <a:picLocks noChangeAspect="1" noChangeArrowheads="1"/>
          </p:cNvPicPr>
          <p:nvPr/>
        </p:nvPicPr>
        <p:blipFill>
          <a:blip r:embed="rId2" cstate="print"/>
          <a:srcRect/>
          <a:stretch>
            <a:fillRect/>
          </a:stretch>
        </p:blipFill>
        <p:spPr bwMode="auto">
          <a:xfrm>
            <a:off x="0" y="-3583"/>
            <a:ext cx="9144000" cy="6865167"/>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7650" name="Picture 2" descr="C:\Users\Govt College\Desktop\simons-model-for-decision-making-process-7-638.jpg"/>
          <p:cNvPicPr>
            <a:picLocks noChangeAspect="1" noChangeArrowheads="1"/>
          </p:cNvPicPr>
          <p:nvPr/>
        </p:nvPicPr>
        <p:blipFill>
          <a:blip r:embed="rId2" cstate="print"/>
          <a:srcRect/>
          <a:stretch>
            <a:fillRect/>
          </a:stretch>
        </p:blipFill>
        <p:spPr bwMode="auto">
          <a:xfrm>
            <a:off x="0" y="-3583"/>
            <a:ext cx="9144000" cy="6865167"/>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8674" name="Picture 2" descr="C:\Users\Govt College\Desktop\simons-model-for-decision-making-process-8-638.jpg"/>
          <p:cNvPicPr>
            <a:picLocks noChangeAspect="1" noChangeArrowheads="1"/>
          </p:cNvPicPr>
          <p:nvPr/>
        </p:nvPicPr>
        <p:blipFill>
          <a:blip r:embed="rId2" cstate="print"/>
          <a:srcRect/>
          <a:stretch>
            <a:fillRect/>
          </a:stretch>
        </p:blipFill>
        <p:spPr bwMode="auto">
          <a:xfrm>
            <a:off x="0" y="-3583"/>
            <a:ext cx="9139227" cy="6861583"/>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9698" name="Picture 2" descr="C:\Users\Govt College\Desktop\slide_4.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22" name="Picture 2" descr="C:\Users\Govt College\Desktop\slide_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10000"/>
          </a:bodyPr>
          <a:lstStyle/>
          <a:p>
            <a:r>
              <a:rPr lang="en-US" dirty="0" smtClean="0"/>
              <a:t>Formal Information System:</a:t>
            </a:r>
          </a:p>
          <a:p>
            <a:pPr>
              <a:buNone/>
            </a:pPr>
            <a:r>
              <a:rPr lang="en-US" dirty="0" smtClean="0"/>
              <a:t>    A formal information system is based on the </a:t>
            </a:r>
            <a:r>
              <a:rPr lang="en-US" dirty="0" err="1" smtClean="0"/>
              <a:t>organisation</a:t>
            </a:r>
            <a:r>
              <a:rPr lang="en-US" dirty="0" smtClean="0"/>
              <a:t> represented by the organization chart. The chart is a map of position and their authority </a:t>
            </a:r>
            <a:r>
              <a:rPr lang="en-US" dirty="0" err="1" smtClean="0"/>
              <a:t>relationship,indicated</a:t>
            </a:r>
            <a:r>
              <a:rPr lang="en-US" dirty="0" smtClean="0"/>
              <a:t> by boxes and connected by straight lines. it is concerned with the pattern of authority, communication and work flow.</a:t>
            </a:r>
          </a:p>
          <a:p>
            <a:pPr>
              <a:buNone/>
            </a:pPr>
            <a:r>
              <a:rPr lang="en-US" dirty="0" smtClean="0"/>
              <a:t>Informal Information System:</a:t>
            </a:r>
          </a:p>
          <a:p>
            <a:pPr>
              <a:buNone/>
            </a:pPr>
            <a:r>
              <a:rPr lang="en-US" dirty="0" smtClean="0"/>
              <a:t>    The informal information system is employee based system design to meet personnel and vocational needs and to help in the solution of work-related problems. it also funnels information upward through indirect channels. In this way, it is considered to be a useful system because it works within the framework of the business and its stated policies.</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971800"/>
            <a:ext cx="8229600" cy="1143000"/>
          </a:xfrm>
        </p:spPr>
        <p:txBody>
          <a:bodyPr/>
          <a:lstStyle/>
          <a:p>
            <a:r>
              <a:rPr lang="en-US" dirty="0" smtClean="0"/>
              <a:t>Unit-3</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descr="C:\Users\Govt College\Desktop\analysis-and-design-of-information-system-1-728.jpg"/>
          <p:cNvPicPr>
            <a:picLocks noChangeAspect="1" noChangeArrowheads="1"/>
          </p:cNvPicPr>
          <p:nvPr/>
        </p:nvPicPr>
        <p:blipFill>
          <a:blip r:embed="rId2" cstate="print"/>
          <a:srcRect/>
          <a:stretch>
            <a:fillRect/>
          </a:stretch>
        </p:blipFill>
        <p:spPr bwMode="auto">
          <a:xfrm>
            <a:off x="304800" y="0"/>
            <a:ext cx="8686800" cy="6515100"/>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descr="C:\Users\Govt College\Desktop\analysis-and-design-of-information-system-2-728.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descr="C:\Users\Govt College\Desktop\analysis-and-design-of-information-system-3-728.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098" name="Picture 2" descr="C:\Users\Govt College\Desktop\analysis-and-design-of-information-system-4-728.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2" name="Picture 2" descr="C:\Users\Govt College\Desktop\analysis-and-design-of-information-system-5-728.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146" name="Picture 2" descr="C:\Users\Govt College\Desktop\analysis-and-design-of-information-system-6-728.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0" name="Picture 2" descr="C:\Users\Govt College\Desktop\analysis-and-design-of-information-system-7-728.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descr="C:\Users\Govt College\Desktop\analysis-and-design-of-information-system-8-728.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9218" name="Picture 2" descr="C:\Users\Govt College\Desktop\analysis-and-design-of-information-system-9-728.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42" name="Picture 2" descr="C:\Users\Govt College\Desktop\analysis-and-design-of-information-system-12-728.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1266" name="Picture 2" descr="C:\Users\Govt College\Desktop\analysis-and-design-of-information-system-13-728.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2290" name="Picture 2" descr="C:\Users\Govt College\Desktop\analysis-and-design-of-information-system-14-728.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3314" name="Picture 2" descr="C:\Users\Govt College\Desktop\analysis-and-design-of-information-system-15-728.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4338" name="Picture 2" descr="C:\Users\Govt College\Desktop\analysis-and-design-of-information-system-16-728.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5362" name="Picture 2" descr="C:\Users\Govt College\Desktop\analysis-and-design-of-information-system-17-728.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6386" name="Picture 2" descr="C:\Users\Govt College\Desktop\analysis-and-design-of-information-system-18-728.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7410" name="Picture 2" descr="C:\Users\Govt College\Desktop\analysis-and-design-of-information-system-19-728.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8434" name="Picture 2" descr="C:\Users\Govt College\Desktop\analysis-and-design-of-information-system-20-728.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9458" name="Picture 2" descr="C:\Users\Govt College\Desktop\analysis-and-design-of-information-system-21-728.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482" name="Picture 2" descr="C:\Users\Govt College\Desktop\analysis-and-design-of-information-system-22-728.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1506" name="Picture 2" descr="C:\Users\Govt College\Desktop\analysis-and-design-of-information-system-23-728.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2530" name="Picture 2" descr="C:\Users\Govt College\Desktop\our-presentation-on-management-information-system-20-638.jpg"/>
          <p:cNvPicPr>
            <a:picLocks noChangeAspect="1" noChangeArrowheads="1"/>
          </p:cNvPicPr>
          <p:nvPr/>
        </p:nvPicPr>
        <p:blipFill>
          <a:blip r:embed="rId2" cstate="print"/>
          <a:srcRect/>
          <a:stretch>
            <a:fillRect/>
          </a:stretch>
        </p:blipFill>
        <p:spPr bwMode="auto">
          <a:xfrm>
            <a:off x="4772" y="1"/>
            <a:ext cx="9139228" cy="6861584"/>
          </a:xfrm>
          <a:prstGeom prst="rect">
            <a:avLst/>
          </a:prstGeom>
          <a:noFill/>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667000"/>
            <a:ext cx="8229600" cy="1143000"/>
          </a:xfrm>
        </p:spPr>
        <p:txBody>
          <a:bodyPr/>
          <a:lstStyle/>
          <a:p>
            <a:r>
              <a:rPr lang="en-US" dirty="0" smtClean="0"/>
              <a:t>Unit-4</a:t>
            </a: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3554" name="Picture 2" descr="C:\Users\Govt College\Desktop\slide_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4578" name="Picture 2" descr="C:\Users\Govt College\Desktop\slide-12.jpg"/>
          <p:cNvPicPr>
            <a:picLocks noChangeAspect="1" noChangeArrowheads="1"/>
          </p:cNvPicPr>
          <p:nvPr/>
        </p:nvPicPr>
        <p:blipFill>
          <a:blip r:embed="rId2" cstate="print"/>
          <a:srcRect/>
          <a:stretch>
            <a:fillRect/>
          </a:stretch>
        </p:blipFill>
        <p:spPr bwMode="auto">
          <a:xfrm>
            <a:off x="0" y="-793"/>
            <a:ext cx="8991600" cy="6743699"/>
          </a:xfrm>
          <a:prstGeom prst="rect">
            <a:avLst/>
          </a:prstGeom>
          <a:noFill/>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5602" name="Picture 2" descr="C:\Users\Govt College\Desktop\e-commerce-banking-ppt-6-638.jpg"/>
          <p:cNvPicPr>
            <a:picLocks noChangeAspect="1" noChangeArrowheads="1"/>
          </p:cNvPicPr>
          <p:nvPr/>
        </p:nvPicPr>
        <p:blipFill>
          <a:blip r:embed="rId2" cstate="print"/>
          <a:srcRect/>
          <a:stretch>
            <a:fillRect/>
          </a:stretch>
        </p:blipFill>
        <p:spPr bwMode="auto">
          <a:xfrm>
            <a:off x="0" y="-3583"/>
            <a:ext cx="9144000" cy="6865167"/>
          </a:xfrm>
          <a:prstGeom prst="rect">
            <a:avLst/>
          </a:prstGeom>
          <a:noFill/>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6626" name="Picture 2" descr="C:\Users\Govt College\Desktop\decision-support-system-management-information-system-2-638.jpg"/>
          <p:cNvPicPr>
            <a:picLocks noChangeAspect="1" noChangeArrowheads="1"/>
          </p:cNvPicPr>
          <p:nvPr/>
        </p:nvPicPr>
        <p:blipFill>
          <a:blip r:embed="rId2" cstate="print"/>
          <a:srcRect/>
          <a:stretch>
            <a:fillRect/>
          </a:stretch>
        </p:blipFill>
        <p:spPr bwMode="auto">
          <a:xfrm>
            <a:off x="0" y="-3583"/>
            <a:ext cx="9144000" cy="6865167"/>
          </a:xfrm>
          <a:prstGeom prst="rect">
            <a:avLst/>
          </a:prstGeom>
          <a:noFill/>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7650" name="Picture 2" descr="C:\Users\Govt College\Desktop\decision-support-system-management-information-system-11-638.jpg"/>
          <p:cNvPicPr>
            <a:picLocks noChangeAspect="1" noChangeArrowheads="1"/>
          </p:cNvPicPr>
          <p:nvPr/>
        </p:nvPicPr>
        <p:blipFill>
          <a:blip r:embed="rId2" cstate="print"/>
          <a:srcRect/>
          <a:stretch>
            <a:fillRect/>
          </a:stretch>
        </p:blipFill>
        <p:spPr bwMode="auto">
          <a:xfrm>
            <a:off x="0" y="-3583"/>
            <a:ext cx="9144000" cy="6865167"/>
          </a:xfrm>
          <a:prstGeom prst="rect">
            <a:avLst/>
          </a:prstGeom>
          <a:noFill/>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8674" name="Picture 2" descr="C:\Users\Govt College\Desktop\decision-support-system-mis-ppt-4-638.jpg"/>
          <p:cNvPicPr>
            <a:picLocks noChangeAspect="1" noChangeArrowheads="1"/>
          </p:cNvPicPr>
          <p:nvPr/>
        </p:nvPicPr>
        <p:blipFill>
          <a:blip r:embed="rId2" cstate="print"/>
          <a:srcRect/>
          <a:stretch>
            <a:fillRect/>
          </a:stretch>
        </p:blipFill>
        <p:spPr bwMode="auto">
          <a:xfrm>
            <a:off x="0" y="-3583"/>
            <a:ext cx="9139227" cy="6861583"/>
          </a:xfrm>
          <a:prstGeom prst="rect">
            <a:avLst/>
          </a:prstGeom>
          <a:noFill/>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9698" name="Picture 2" descr="C:\Users\Govt College\Desktop\decision-support-system-management-information-system-10-638.jpg"/>
          <p:cNvPicPr>
            <a:picLocks noChangeAspect="1" noChangeArrowheads="1"/>
          </p:cNvPicPr>
          <p:nvPr/>
        </p:nvPicPr>
        <p:blipFill>
          <a:blip r:embed="rId2" cstate="print"/>
          <a:srcRect/>
          <a:stretch>
            <a:fillRect/>
          </a:stretch>
        </p:blipFill>
        <p:spPr bwMode="auto">
          <a:xfrm>
            <a:off x="0" y="-3583"/>
            <a:ext cx="9144000" cy="6865167"/>
          </a:xfrm>
          <a:prstGeom prst="rect">
            <a:avLst/>
          </a:prstGeom>
          <a:noFill/>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22" name="Picture 2" descr="C:\Users\Govt College\Desktop\slide_3 (1).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TotalTime>
  <Words>396</Words>
  <Application>Microsoft Office PowerPoint</Application>
  <PresentationFormat>On-screen Show (4:3)</PresentationFormat>
  <Paragraphs>38</Paragraphs>
  <Slides>71</Slides>
  <Notes>0</Notes>
  <HiddenSlides>0</HiddenSlides>
  <MMClips>0</MMClips>
  <ScaleCrop>false</ScaleCrop>
  <HeadingPairs>
    <vt:vector size="4" baseType="variant">
      <vt:variant>
        <vt:lpstr>Theme</vt:lpstr>
      </vt:variant>
      <vt:variant>
        <vt:i4>1</vt:i4>
      </vt:variant>
      <vt:variant>
        <vt:lpstr>Slide Titles</vt:lpstr>
      </vt:variant>
      <vt:variant>
        <vt:i4>71</vt:i4>
      </vt:variant>
    </vt:vector>
  </HeadingPairs>
  <TitlesOfParts>
    <vt:vector size="72" baseType="lpstr">
      <vt:lpstr>Office Theme</vt:lpstr>
      <vt:lpstr>MANAGEMENT INFORMATION SYSTEM</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EDP- ELECTRONIC DATA PROCESSING</vt:lpstr>
      <vt:lpstr>Slide 15</vt:lpstr>
      <vt:lpstr>Slide 16</vt:lpstr>
      <vt:lpstr>Slide 17</vt:lpstr>
      <vt:lpstr>Slide 18</vt:lpstr>
      <vt:lpstr>Slide 19</vt:lpstr>
      <vt:lpstr>Slide 20</vt:lpstr>
      <vt:lpstr>UNIT-2</vt:lpstr>
      <vt:lpstr>CHARACTERISTICS OF MIS </vt:lpstr>
      <vt:lpstr>Slide 23</vt:lpstr>
      <vt:lpstr>Slide 24</vt:lpstr>
      <vt:lpstr>Slide 25</vt:lpstr>
      <vt:lpstr>Information requirements &amp; Levels of Management</vt:lpstr>
      <vt:lpstr>MANAGEMENT STRUCTURE </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Unit-3</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Unit-4</vt:lpstr>
      <vt:lpstr>Slide 64</vt:lpstr>
      <vt:lpstr>Slide 65</vt:lpstr>
      <vt:lpstr>Slide 66</vt:lpstr>
      <vt:lpstr>Slide 67</vt:lpstr>
      <vt:lpstr>Slide 68</vt:lpstr>
      <vt:lpstr>Slide 69</vt:lpstr>
      <vt:lpstr>Slide 70</vt:lpstr>
      <vt:lpstr>Slide 71</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INFORMATION SYSTEM</dc:title>
  <dc:creator>Computer Lab</dc:creator>
  <cp:lastModifiedBy>Computer Lab</cp:lastModifiedBy>
  <cp:revision>16</cp:revision>
  <dcterms:created xsi:type="dcterms:W3CDTF">2006-08-16T00:00:00Z</dcterms:created>
  <dcterms:modified xsi:type="dcterms:W3CDTF">2019-11-08T04:00:46Z</dcterms:modified>
</cp:coreProperties>
</file>